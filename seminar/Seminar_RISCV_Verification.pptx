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UID, Class and Guide name before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Methodologies for RISC-V Processors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how correctness is established for open, extensible processor implementations — with a focus on the base paper: A Self-Testing Framework for a RISC-V-Based System with a Co-processor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Kevin Jose
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____________     Class: ____________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4800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____________________
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737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3134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Supporting Papers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89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88950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Base Paper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655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46557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Relevance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041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0416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Alternate Approaches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617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17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93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1937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AND 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Objective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is an open, extensible ISA now widely used in academia and industry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add custom instructions — but a fabricated processor cannot be patched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establishes that an implementation behaves as its specification requires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compliance suite is handwritten and implementation-independent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target a specific pipeline, hazard logic, or cache configuration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it is not the same as being correct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five papers to trace how RISC-V verification has evolved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each contributes a distinct capability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the base paper applies these to verifying custom instruction-set extensions — the core need of our project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114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434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normally checks a design against a golden reference. But a custom instruction you invented has no golden reference — and exhaustive testing is impossible (a 32-bit adder alone has 2⁶⁴ input combinations). Every method therefore trades off where tests come from against how correctness is decided.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Papers, Five Approaches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40080" cy="74980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4572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1645920"/>
            <a:ext cx="4663440" cy="74980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645920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(first author, year)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645920"/>
            <a:ext cx="4663440" cy="74980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645920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approach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0" y="1645920"/>
            <a:ext cx="1645920" cy="74980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0" y="1645920"/>
            <a:ext cx="14630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640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95728"/>
            <a:ext cx="4572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88720" y="2395728"/>
            <a:ext cx="4663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2395728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χRVFormal — Shen et al., 2026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2395728"/>
            <a:ext cx="4663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2395728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(Chisel) formal model checking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515600" y="2395728"/>
            <a:ext cx="1645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07040" y="2395728"/>
            <a:ext cx="14630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45536"/>
            <a:ext cx="64008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45536"/>
            <a:ext cx="4572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188720" y="3145536"/>
            <a:ext cx="466344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80160" y="3145536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Vector Accelerator — Jiménez et al., 2023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52160" y="3145536"/>
            <a:ext cx="466344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3145536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co-simulation vs Spike golden model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515600" y="3145536"/>
            <a:ext cx="164592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607040" y="3145536"/>
            <a:ext cx="14630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895344"/>
            <a:ext cx="640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895344"/>
            <a:ext cx="4572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188720" y="3895344"/>
            <a:ext cx="4663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3895344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INSTILLER — Zhang et al., 2024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52160" y="3895344"/>
            <a:ext cx="4663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0" y="3895344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RTL fuzzing (ant-colony)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515600" y="3895344"/>
            <a:ext cx="1645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07040" y="3895344"/>
            <a:ext cx="14630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645152"/>
            <a:ext cx="64008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4645152"/>
            <a:ext cx="4572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188720" y="4645152"/>
            <a:ext cx="466344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80160" y="4645152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Formal Verif. — Weingarten et al., 2025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852160" y="4645152"/>
            <a:ext cx="466344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0" y="4645152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equivalence checking, proven time bounds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515600" y="4645152"/>
            <a:ext cx="1645920" cy="74980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07040" y="4645152"/>
            <a:ext cx="14630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640080" cy="74980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394960"/>
            <a:ext cx="4572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188720" y="5394960"/>
            <a:ext cx="4663440" cy="74980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280160" y="5394960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PATARA — Gesper et al., 2026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852160" y="5394960"/>
            <a:ext cx="4663440" cy="74980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43600" y="5394960"/>
            <a:ext cx="44805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Self-testing (REVERSI), no golden model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515600" y="5394960"/>
            <a:ext cx="1645920" cy="74980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607040" y="5394960"/>
            <a:ext cx="14630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281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indexed in SCOPUS / SCIE · published 2023–2026 · four journal articles + one Springer journal base paper.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 — PAPER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χRVFormal: Formal Verification of RISC-V Chisel Designs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Shen, Chen, Liu, Zhang, Song &amp; Wu · Journal of Systems Architecture (Elsevier) ·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 of RISC-V written in high-level Chisel, not Verilog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mechanism (StateCheck / ActionCheck) aligns a single-cycle model with a pipelined / out-of-order design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to a model-checking problem solved by Pono / SMTBMC with Boolector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 from prior work: verify at the high-level source, not the generated Verilog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 4,609 lines vs riscv-formal’s 104,911 — with more coverage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7 real, designer-confirmed bugs; riscv-formal found only 2 of them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BOOM (out-of-order): 1,953 s avg vs riscv-formal 22,855 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found in 0.52 s took symbolic execution 58 min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model checking (depth 40) — not a complete proof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synchronisation mechanism itself is unverified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riscv-formal on very small designs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 — PAPER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Verification of a RISC-V Vector Accelerator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Jiménez et al. · IEEE Design &amp; Test · 2023 · European Processor Initiative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testbench with one agent per Open Vector Interface sub-channel (7 total)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ISS as the golden model — every vector instruction co-simulated step by step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SystemVerilog assertions for observability on memory interfaces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RISCV-DV for constrained-random generation + Jenkins CI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3,005 errors found over ~1 year of continuous verification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95.79% functional coverage reached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24 → 600 tests/night; chip successfully taped out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narrowing / widening ops = ~70% of failures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only 72.64% (49.83% toggle) — authors admit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deprecated RVV 0.7.1, not ratified 1.0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report — engineering, not a new algorithm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 — PAPER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INSTILLER: Toward Efficient and Realistic RTL Fuzzing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Wang, Yue, Liu, Guo &amp; Lu · IEEE Trans. CAD of Integrated Circuits &amp; Systems · 2024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fuzzing: random instruction streams, ISS vs RTL differential check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Colony Optimization (VACO) distills tests — circuits = cities, length = ants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multi-interrupt and exception injection with priorities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Hardware-aware seed selection and mutation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+29.4% coverage and +17.0% mismatches vs DiFuzzRTL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inputs 79.3% shorter; +6.7% execution speed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VACO alone → 417% longer inputs (ablation)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/ exceptions = &gt;10% of coverage prior tools scored 0 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target cores are OpenRISC, not RISC-V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“Mismatches” are candidate bugs, not designer-confirmed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can never prove the absence of bugs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 — PAPER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Formal Verification of a RISC-V Processor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Weingarten, Datta &amp; Drechsler · IEEE Trans. on Nanotechnology · 2025 · Univ. Bremen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 Diagrams: canonical form → equivalence = pointer check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one instruction: pin control signals, mark data unknown, delete constants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verified as an FSM walk against a golden reference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proves a polynomial BOUND on verification time itself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bounds: O(n) Fetch, O(n²) Execute/Decode, O(k·m) Control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Execute unit verified in 11.95 ms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control signals verified (up from 15 in prior work)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guarantee — for every possible input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MicroRV32 — multi-cycle, NON-pipelined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HALT, TRAP and interrupt states entirely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zero bugs; closed-source tool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χRVFormal states in print it cannot handle pipelined cores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Papers —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377440" cy="77724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2926080" cy="77724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691640"/>
            <a:ext cx="3200400" cy="77724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oracle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52560" y="1691640"/>
            <a:ext cx="2560320" cy="77724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χRVFormal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(formal)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246888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 vs spec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46888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real bugs; 4.6k vs 105k LOC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237744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Accelerator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26080" y="3246120"/>
            <a:ext cx="292608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324612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Constrained-random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52160" y="3246120"/>
            <a:ext cx="320040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golden model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52560" y="3246120"/>
            <a:ext cx="256032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0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3,005 errors; 95.8% func. cov.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INSTILLER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926080" y="402336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17520" y="402336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fuzz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52160" y="402336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differential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52560" y="402336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+29% cov; −79% test length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800600"/>
            <a:ext cx="237744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480060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PFV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926080" y="4800600"/>
            <a:ext cx="292608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17520" y="480060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(formal)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852160" y="4800600"/>
            <a:ext cx="320040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equivalence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052560" y="4800600"/>
            <a:ext cx="2560320" cy="77724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0" y="480060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O(n²); Execute unit 11.95 ms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supporting paper depends on a reference model or an exhaustive proof. The base paper removes that dependency entirely — which is exactly why it was chosen.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 —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PATARA: A Self-Testing Framework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Gesper, Stuckmann, Wöbbekind &amp; Payá-Vayá · Int. Journal of Parallel Programming (Springer) · 2026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self-checking tests — with no external golden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implementation-specific hazards the compliance suite misses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verification to an attached co-processor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 self-test generation ported to RISC-V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hazard-sequence generator (pipeline-depth aware)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swapping + cache-miss generation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Twin-based co-processor verification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E8F2EF"/>
          </a:solidFill>
          <a:ln w="15875">
            <a:solidFill>
              <a:srgbClr val="157F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79.12%  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3000" b="1" dirty="0">
                <a:solidFill>
                  <a:srgbClr val="0F5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 vs the official compliance suite. The suite found 0 bugs — PATARA exposed real hazard bugs in that same "verified" core.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690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43891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E8F2EF"/>
          </a:solidFill>
          <a:ln w="19050">
            <a:solidFill>
              <a:srgbClr val="157F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4389120"/>
            <a:ext cx="1078992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PATARA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43891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26680" y="43891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1078992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97112" y="43891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98280" y="43891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4389120"/>
            <a:ext cx="1078992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gen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268712" y="43891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69880" y="43891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0" y="4389120"/>
            <a:ext cx="1078992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co-proc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Being Addressed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APPROACH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handwritten RISC-V compliance suite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implementation-independent tests for every core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target your pipeline depth, hazards, or cache config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GOLDEN MODEL HURTS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simulators (Spike) are slow to run alongside RTL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their own bugs — two implementations, which is right?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post-silicon: no internal observability on a real chip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THAT MATTERS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075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suite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04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 · no golden model · misses hazards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2990088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0998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+ golden model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· but slow, reference can be wrong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4014216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1239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453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but poor scalability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5038344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E8F2EF"/>
          </a:solidFill>
          <a:ln w="19050">
            <a:solidFill>
              <a:srgbClr val="157F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148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PATARA (self-testing)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4772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implementation · NO golden model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Mechanism — REVERSI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 not need to know the right answer — you only need the operation to be reversible.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7, then subtract 7. If you do not land back where you started, the hardware is broken — and you never needed a reference model.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the instruction under test appears ONLY in the modification step — so a systematic fault cannot cancel itself out during restoration.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06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REVERSI self-test structure (Gesper et al., 2026)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MODIFICATION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2219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focus  ⊕  random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87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instruction under test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154680"/>
            <a:ext cx="53035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RESTORING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85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= target  ⊖  random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its inverse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617720"/>
            <a:ext cx="5303520" cy="1325880"/>
          </a:xfrm>
          <a:prstGeom prst="roundRect">
            <a:avLst>
              <a:gd name="adj" fmla="val 3448"/>
            </a:avLst>
          </a:prstGeom>
          <a:solidFill>
            <a:srgbClr val="E8F2EF"/>
          </a:solidFill>
          <a:ln w="19050">
            <a:solidFill>
              <a:srgbClr val="157F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COMPARISON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5148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 ==  focus  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513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→ hardware error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and Four Extensions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extension patches a specific blind spot the previous configuration leaves unreachable.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92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XML-driven flow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+ instruction set described in XML → selection → sequence generation → self-checking assembly. ISA-independent.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92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Operand swapping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128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always operand 1, so operand 2’s forwarding path is never tested. Swapping reaches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40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27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Hazard sequences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instruction-type permutations, sequence length sized to pipeline depth (6 stages → 4 instrs).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017520"/>
            <a:ext cx="5440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2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127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Cache-miss generation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d-cache / i-cache misses to exercise stall × hazard interactions.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E8F2EF"/>
          </a:solidFill>
          <a:ln w="15875">
            <a:solidFill>
              <a:srgbClr val="157F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5537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TWIN-BASED CO-PROCESSOR VERIFICATION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64608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co-processor operations (ABS, MIN/MAX, multiply) are not invertible, so REVERSI cannot apply. Instead the same operation runs on the co-processor AND as software on the already-verified RISC-V core, and the results are compared. The verified core becomes the golden model — no external reference, and it works post-silicon.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DUT: 6-stage RV32IM core + V2PRO vector co-processor · Simulator: Questa Sim · Metric: code coverage (%)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0" cy="45720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600200"/>
            <a:ext cx="2468880" cy="45720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600200"/>
            <a:ext cx="2377440" cy="457200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suite (baseline)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205740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889,516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0" y="205740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79.12%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4572000" cy="45720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5146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combinations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20640" y="2514600"/>
            <a:ext cx="2468880" cy="45720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6,983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89520" y="2514600"/>
            <a:ext cx="2377440" cy="45720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80.21%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operand switching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20640" y="297180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9,722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89520" y="297180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81.31%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429000"/>
            <a:ext cx="4572000" cy="45720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interleaving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20640" y="3429000"/>
            <a:ext cx="2468880" cy="45720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17,294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89520" y="3429000"/>
            <a:ext cx="2377440" cy="457200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81.31%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hazard sequences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120640" y="388620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212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1,851,852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589520" y="388620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96.70%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4343400"/>
            <a:ext cx="4572000" cy="457200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4343400"/>
            <a:ext cx="4389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cache tests (full PATARA)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120640" y="4343400"/>
            <a:ext cx="2468880" cy="457200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1208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6,732,901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589520" y="4343400"/>
            <a:ext cx="2377440" cy="457200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8096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257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+20.88 pts condition coverage over the compliance suite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config beats the suite with 127× fewer instructions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 alone adds 0.00 pts — variety ≠ coverage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55080" y="498348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E8F2EF"/>
          </a:solidFill>
          <a:ln w="15875">
            <a:solidFill>
              <a:srgbClr val="157F6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0" y="53949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hazard-sequence generation drops condition coverage to 81.31%. The compliance suite found 0 bugs; PATARA exposed 4 categories of real hazard-interaction bugs.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and Relevance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customized core the compliance suite cannot fully reach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tests run post-silicon with no golden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method verifies an attached accelerator / co-processor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INSIGHT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two questions: test generation vs. correctness oracle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golden model exists, invertibility or a twin can replace it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necessary but not sufficient — 100% ≠ bug-free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OUR PROJECT (TEAM 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20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extending a RISC-V core with custom AI / vector instructions for edge video anomaly detection — exactly the scenario PATARA targets.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8346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have no golden reference — the paper’s core problem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Invertible ops (e.g. ADD+1) → REVERSI self-test directly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Non-invertible ops (e.g. packed abs-diff) → twin-based method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we integrate maps onto the co-processor twin flow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5349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RV32IM only (no floating point) · CSRs and interrupts out of scope · single design evaluated.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Alternate Approaches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194560" cy="56692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27632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627632"/>
            <a:ext cx="2286000" cy="56692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627632"/>
            <a:ext cx="3840480" cy="56692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627632"/>
            <a:ext cx="3657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627632"/>
            <a:ext cx="2743200" cy="566928"/>
          </a:xfrm>
          <a:prstGeom prst="rect">
            <a:avLst/>
          </a:prstGeom>
          <a:solidFill>
            <a:srgbClr val="243642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0" y="1627632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194560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χRVFormal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194560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formal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2194560"/>
            <a:ext cx="3657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spec conformance; 7 real bugs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219456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0" y="2194560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(depth 40)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761488"/>
            <a:ext cx="219456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761488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Accelerator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761488"/>
            <a:ext cx="228600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2761488"/>
            <a:ext cx="2103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+ golden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761488"/>
            <a:ext cx="384048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2761488"/>
            <a:ext cx="3657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scale; 3,005 bugs; taped 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9680" y="2761488"/>
            <a:ext cx="274320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0" y="2761488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cov. only 72.6%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3284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328416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INSTILLER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0" y="332841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34640" y="3328416"/>
            <a:ext cx="2103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fuzz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328416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20640" y="3328416"/>
            <a:ext cx="3657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tests; finds unthought-of cases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69680" y="3328416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0" y="3328416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Incomplete; 2 non-RISC-V cores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895344"/>
            <a:ext cx="219456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3895344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PFV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0" y="3895344"/>
            <a:ext cx="228600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34640" y="3895344"/>
            <a:ext cx="2103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formal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0" y="3895344"/>
            <a:ext cx="384048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0" y="3895344"/>
            <a:ext cx="3657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runtime bound; complete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69680" y="3895344"/>
            <a:ext cx="2743200" cy="566928"/>
          </a:xfrm>
          <a:prstGeom prst="rect">
            <a:avLst/>
          </a:prstGeom>
          <a:solidFill>
            <a:srgbClr val="F5F8F9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61120" y="3895344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Non-pipelined toy core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462272"/>
            <a:ext cx="2194560" cy="56692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4462272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PATARA (base)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0" y="4462272"/>
            <a:ext cx="2286000" cy="56692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3464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0" y="4462272"/>
            <a:ext cx="3840480" cy="56692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20640" y="4462272"/>
            <a:ext cx="3657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golden model; 100% cov; post-silicon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69680" y="4462272"/>
            <a:ext cx="2743200" cy="566928"/>
          </a:xfrm>
          <a:prstGeom prst="rect">
            <a:avLst/>
          </a:prstGeom>
          <a:solidFill>
            <a:srgbClr val="E8F2E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61120" y="4462272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RV32IM; no CSR / interrupts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BASE PAPER WAS CHOSEN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PATARA is the only approach that verifies a customized RISC-V core without a golden reference — the exact obstacle our custom instructions create. It fuses systematic test generation, self-checking execution, and a twin-based co-processor method, and directly matches our project’s architecture and workflow.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surveyed work, RISC-V verification splits along two axes — where tests come from, and how correctness is decided. Formal methods (χRVFormal, PFV) give complete guarantees but trade away either scalability or completeness; industrial UVM co-simulation (Vector Accelerator) and coverage-guided fuzzing (INSTILLER) scale to real cores but depend on a reference model and can never prove the absence of bugs. The base paper, PATARA, fuses systematic test generation with self-checking execution, removing the golden-model dependency entirely — reaching 100% condition coverage where the official compliance suite reached 79.12% and found no bugs, while exposing real hazard-interaction defects in that same design. For our project, where custom instructions have no golden reference by definition, this confirms self-testing and twin-based verification as the practical path forward — and points toward extending it to floating-point and privileged-mode coverage.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 Gesper, F. Stuckmann, L. Wöbbekind &amp; G. Payá-Vayá, "A Self-Testing Framework for Verification and Validation of a RISC-V-Based System with a Co-processor," Int. J. Parallel Programming, vol. 54, art. 15, 2026.  (BASE PAPER)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Shen, S. Chen, Y. Liu, L. Zhang, F. Song &amp; Z. Wu, "χRVFormal: Formal verification of RISC-V processor Chisel designs," Journal of Systems Architecture, vol. 175, 103761, 2026.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V. Jiménez et al., "Functional Verification of a RISC-V Vector Accelerator," IEEE Design &amp; Test, vol. 40, no. 3, pp. 36–44, 2023.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G. Zhang, P. Wang, T. Yue, D. Liu, Y. Guo &amp; K. Lu, "INSTILLER: Toward Efficient and Realistic RTL Fuzzing," IEEE Trans. CAD of Integrated Circuits and Systems, vol. 43, no. 7, pp. 2177–2190,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L. Weingarten, K. Datta &amp; R. Drechsler, "Polynomial Formal Verification of a RISC-V Processor," IEEE Trans. on Nanotechnology, vol. 24, pp. 140–151, 2025.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Waterman &amp; K. Asanović, "The RISC-V Instruction Set Manual, Volume I: Unprivileged ISA," RISC-V International, 2019.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E. Shazli &amp; M. Tehranipoor, "REVERSI: Post-silicon validation via self-checking randomized test programs" (foundational REVERSI method extended by the base paper).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2026-09-12T16:11:36Z</dcterms:created>
  <dcterms:modified xsi:type="dcterms:W3CDTF">2026-09-12T16:11:36Z</dcterms:modified>
</cp:coreProperties>
</file>